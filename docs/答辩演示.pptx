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各位老师好。我汇报的题目是《门诊预约与分诊协作助手》。</a:t>
            </a:r>
          </a:p>
          <a:p/>
          <a:p>
            <a:r>
              <a:t>先说清楚它不是什么：它不是一套新的分诊系统，也不做自动诊断。</a:t>
            </a:r>
          </a:p>
          <a:p>
            <a:r>
              <a:t>它只是一个"次序解释引擎" —— 回答门诊里最常吵起来的三件事：谁排在我前面、为什么、</a:t>
            </a:r>
          </a:p>
          <a:p>
            <a:r>
              <a:t>我还要等多久。</a:t>
            </a:r>
          </a:p>
          <a:p/>
          <a:p>
            <a:r>
              <a:t>这个项目不是我想出来的。需求来自 FDE Discovery Lab 的「门诊预约与分诊协作」场景，</a:t>
            </a:r>
          </a:p>
          <a:p>
            <a:r>
              <a:t>我对其中 6 个岗位做了结构化访谈，拿到 35 条带原文证据的事实。</a:t>
            </a:r>
          </a:p>
          <a:p>
            <a:r>
              <a:t>后面每一页的设计决定，我都会标出它对应的事实编号，可以逐条追溯。</a:t>
            </a:r>
          </a:p>
          <a:p/>
          <a:p>
            <a:r>
              <a:t>汇报预计 15 分钟，之后请各位老师指正。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这一页是全篇的锚点，请老师们记住这句话：我们解决的是"解释"，不是"诊断"。</a:t>
            </a:r>
          </a:p>
          <a:p/>
          <a:p>
            <a:r>
              <a:t>门诊真正卡住的地方，不是医生不会看病，而是三句问不出口、答不上来的话。</a:t>
            </a:r>
          </a:p>
          <a:p>
            <a:r>
              <a:t>第一句来自导诊护士林亦舟：迟到的人和现场加号的人混在一条队里，她每天要反复解释</a:t>
            </a:r>
          </a:p>
          <a:p>
            <a:r>
              <a:t>为什么那个人排在你前面。第二句来自患者服务主管叶书：同样一段等待，患者按到院算、</a:t>
            </a:r>
          </a:p>
          <a:p>
            <a:r>
              <a:t>叫号系统按签到算、运营按预约时间算，三个部门三个数。第三句是医生临时去处理急诊，</a:t>
            </a:r>
          </a:p>
          <a:p>
            <a:r>
              <a:t>排班没同步，可患者早就收到了"请准时到诊"的短信。</a:t>
            </a:r>
          </a:p>
          <a:p/>
          <a:p>
            <a:r>
              <a:t>这三句话，右边都标了事实编号。后面所有设计，都是从这三句话长出来的。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汇报分五段：需求来源、现状症结、四条洞察、方案与 MVP、商业化与风险。</a:t>
            </a:r>
          </a:p>
          <a:p/>
          <a:p>
            <a:r>
              <a:t>如果时间紧，老师们重点看第三和第四段 —— 那两页是这次作业真正有价值的部分：</a:t>
            </a:r>
          </a:p>
          <a:p>
            <a:r>
              <a:t>一个是"排序救不了候诊"这个反直觉的结论，一个是两张流程图对比时我刻意做的取舍。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需求不是我坐在电脑前想出来的。Discovery Lab 这个板块本身就是一套访谈工具，</a:t>
            </a:r>
          </a:p>
          <a:p>
            <a:r>
              <a:t>我按它对 6 个岗位逐一提问，最后拿到 35 条事实，每条都带原话和证据编号。</a:t>
            </a:r>
          </a:p>
          <a:p/>
          <a:p>
            <a:r>
              <a:t>这里有个关键：我没有改写原话。原因很实在 —— 访谈原话里藏着大量限定条件，</a:t>
            </a:r>
          </a:p>
          <a:p>
            <a:r>
              <a:t>一旦翻译成"需求描述"，那些限定就没了，后面设计就会跑偏。</a:t>
            </a:r>
          </a:p>
          <a:p/>
          <a:p>
            <a:r>
              <a:t>屏幕右边这条决策链路是事实 f04 给的：运营主任推立项，质控专员可以因为关键风险</a:t>
            </a:r>
          </a:p>
          <a:p>
            <a:r>
              <a:t>否决上线，服务主管参与结果验收。这一条非常重要 —— 它决定了我的文档不能只写给</a:t>
            </a:r>
          </a:p>
          <a:p>
            <a:r>
              <a:t>一个人看。运营看收益、质控看风险、服务看口径，三个视角缺一不可，</a:t>
            </a:r>
          </a:p>
          <a:p>
            <a:r>
              <a:t>少任何一个，试点都过不了会签。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这六个角色不是凑数，他们各自卡着项目的一个环节。</a:t>
            </a:r>
          </a:p>
          <a:p/>
          <a:p>
            <a:r>
              <a:t>R1 顾主任给目标和预算：候诊中位数从 68 分钟降到 40 分钟，爽约率从 19% 降到 10%，</a:t>
            </a:r>
          </a:p>
          <a:p>
            <a:r>
              <a:t>首期预算 16 万。R5 傅景是医疗质控专员 —— 他是唯一能一票否决的人。</a:t>
            </a:r>
          </a:p>
          <a:p>
            <a:r>
              <a:t>这一条我在设计时反复掂量：只要有一条建议查无实据，或者系统敢对急症患者给出</a:t>
            </a:r>
          </a:p>
          <a:p>
            <a:r>
              <a:t>"预计还要等 12 分钟"这种承诺，这个试点就过不了质控关。</a:t>
            </a:r>
          </a:p>
          <a:p/>
          <a:p>
            <a:r>
              <a:t>R2 林护士是每天真正用它的人。她在访谈里说得很直白：高峰期只能使用现有终端，</a:t>
            </a:r>
          </a:p>
          <a:p>
            <a:r>
              <a:t>离开业务现场去补录会延误处理。这句话我记下来了 —— 它直接决定了我的 MVP 输出</a:t>
            </a:r>
          </a:p>
          <a:p>
            <a:r>
              <a:t>是一个静态 HTML 文件，而不是又一个需要登录的新 App。</a:t>
            </a:r>
          </a:p>
          <a:p>
            <a:r>
              <a:t>能在护士站那台老机器上打开，比什么都重要。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我把 35 条事实浓缩成这三句，因为它们分别指向三个不同层面的问题 ——</a:t>
            </a:r>
          </a:p>
          <a:p>
            <a:r>
              <a:t>而且这三个层面，恰好是三个不同的角色提出的。</a:t>
            </a:r>
          </a:p>
          <a:p/>
          <a:p>
            <a:r>
              <a:t>第一句是运营主任给的：报告说候诊 25 分钟，实际中位数 68 分钟。</a:t>
            </a:r>
          </a:p>
          <a:p>
            <a:r>
              <a:t>注意这不是数据错误，是统计口径不同。所以我说这不是数据质量问题，是立场问题。</a:t>
            </a:r>
          </a:p>
          <a:p/>
          <a:p>
            <a:r>
              <a:t>第二句是护士：她每天要反复解释次序。这是解释缺位 —— 她有判断，但没有能拿出来的依据。</a:t>
            </a:r>
          </a:p>
          <a:p/>
          <a:p>
            <a:r>
              <a:t>第三句最狠：同样一段等待，三个部门三个数。这不是谁算错了，是各自站在自己的立场上定义"等待"。</a:t>
            </a:r>
          </a:p>
          <a:p/>
          <a:p>
            <a:r>
              <a:t>后面所有的设计，都是为了让这三句话有统一的答案。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左边是现状流程图。我先讲流程本身：预约、到院登记、分诊、候诊、接诊、检查交接。</a:t>
            </a:r>
          </a:p>
          <a:p>
            <a:r>
              <a:t>这是访谈里两个角色（运营主任 f01、排班管理员 f20）分别确认过的，说明流程本身</a:t>
            </a:r>
          </a:p>
          <a:p>
            <a:r>
              <a:t>在院内是有共识的。</a:t>
            </a:r>
          </a:p>
          <a:p/>
          <a:p>
            <a:r>
              <a:t>真正的问题不在这条线，而在线外面的东西：</a:t>
            </a:r>
          </a:p>
          <a:p/>
          <a:p>
            <a:r>
              <a:t>第一，退回上一节点时只写"已处理"，不留原因。这是排班管理员明确提的 ——</a:t>
            </a:r>
          </a:p>
          <a:p>
            <a:r>
              <a:t>流程能倒回去，但倒回去的原因没人记。</a:t>
            </a:r>
          </a:p>
          <a:p/>
          <a:p>
            <a:r>
              <a:t>第二，四个节点的责任人分散在三个人身上，交接靠口头。</a:t>
            </a:r>
          </a:p>
          <a:p/>
          <a:p>
            <a:r>
              <a:t>第三，三个系统各管一段，谁也没有全貌。</a:t>
            </a:r>
          </a:p>
          <a:p/>
          <a:p>
            <a:r>
              <a:t>第四，也是最要命的 —— 解释次序这件事，靠护士的记忆和她自己的便签。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把访谈读完之后，我归纳出四个症结。它们的共同点是：都不靠加一个系统解决。</a:t>
            </a:r>
          </a:p>
          <a:p/>
          <a:p>
            <a:r>
              <a:t>第一个最容易被忽略 —— 院方连每个节点各花多久都没量过。</a:t>
            </a:r>
          </a:p>
          <a:p>
            <a:r>
              <a:t>这意味着"帮你缩短 20 分钟"这句话现在根本说不出口，因为你没有基线可以对比。</a:t>
            </a:r>
          </a:p>
          <a:p>
            <a:r>
              <a:t>所以我第一阶段做的是"回放"，不是"优化"。先把数字算出来，再谈改进。</a:t>
            </a:r>
          </a:p>
          <a:p/>
          <a:p>
            <a:r>
              <a:t>剩下三个：系统孤岛、信息在便签里、异常不留痕。</a:t>
            </a:r>
          </a:p>
          <a:p>
            <a:r>
              <a:t>这三条看着是技术问题，其实都是责任链条断裂 —— 交接没留痕、说明没跟着单据走、</a:t>
            </a:r>
          </a:p>
          <a:p>
            <a:r>
              <a:t>退回没说原因。所以我的方案里，审计和留痕不是"合规负担"，它就是产品本身。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第一条洞察，也是我认为这次作业里最有价值的一条。</a:t>
            </a:r>
          </a:p>
          <a:p/>
          <a:p>
            <a:r>
              <a:t>同样一个患者，同样一段等待，三个部门算出三个数：患者按到院算，最长；</a:t>
            </a:r>
          </a:p>
          <a:p>
            <a:r>
              <a:t>叫号系统按签到算，居中；运营按预约时间算，最短。</a:t>
            </a:r>
          </a:p>
          <a:p/>
          <a:p>
            <a:r>
              <a:t>请注意我的判断 —— 这不是数据质量问题，是立场问题。</a:t>
            </a:r>
          </a:p>
          <a:p>
            <a:r>
              <a:t>每个部门都没算错，他们只是站在自己需要负责的那个口径上。</a:t>
            </a:r>
          </a:p>
          <a:p/>
          <a:p>
            <a:r>
              <a:t>所以方案不能"选一个正确的"。一旦你偷偷合并成一个数，</a:t>
            </a:r>
          </a:p>
          <a:p>
            <a:r>
              <a:t>试点验收那天三方一定吵架，而且吵的是数据不是方案。</a:t>
            </a:r>
          </a:p>
          <a:p/>
          <a:p>
            <a:r>
              <a:t>我的做法是让三套口径并存、并明示差异，代码里专门有个</a:t>
            </a:r>
          </a:p>
          <a:p>
            <a:r>
              <a:t>wait_origin_report 来量化"三个口径差多少"。</a:t>
            </a:r>
          </a:p>
          <a:p>
            <a:r>
              <a:t>把分歧摆到台面上，而不是替谁做决定。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第二条洞察来自系统工程师秦芮。她在访谈里直接点名了三类脏数据：</a:t>
            </a:r>
          </a:p>
          <a:p>
            <a:r>
              <a:t>签到重复、叫号遗漏、等待时间起点不统一。</a:t>
            </a:r>
          </a:p>
          <a:p/>
          <a:p>
            <a:r>
              <a:t>而排班管理员那边给出了处理原则（f33）：有歧义的记录进人工修复队列，</a:t>
            </a:r>
          </a:p>
          <a:p>
            <a:r>
              <a:t>不进入自动推荐样本。</a:t>
            </a:r>
          </a:p>
          <a:p/>
          <a:p>
            <a:r>
              <a:t>这句话我照着做进了代码：质量检查的输出分「阻断」和「提示」两级，</a:t>
            </a:r>
          </a:p>
          <a:p>
            <a:r>
              <a:t>被标阻断的记录不参与任何建议计算。</a:t>
            </a:r>
          </a:p>
          <a:p/>
          <a:p>
            <a:r>
              <a:t>为什么要这么狠？因为一条查不到依据的建议，比没有建议更糟。</a:t>
            </a:r>
          </a:p>
          <a:p>
            <a:r>
              <a:t>护士拿着它去跟患者解释，解释错了，锅是她的。</a:t>
            </a:r>
          </a:p>
          <a:p>
            <a:r>
              <a:t>所以我的原则是：宁可少给几条建议，也绝不给一条查无实据的建议。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第三条洞察是我自己踩坑踩出来的，值得单独讲。</a:t>
            </a:r>
          </a:p>
          <a:p/>
          <a:p>
            <a:r>
              <a:t>我一开始只做了"迟到者让出波次"这一条规则，逻辑上完全正确。</a:t>
            </a:r>
          </a:p>
          <a:p>
            <a:r>
              <a:t>但回放跑出来，有个患者等了 200 多分钟 —— 因为前面不断有迟到的人插进来，</a:t>
            </a:r>
          </a:p>
          <a:p>
            <a:r>
              <a:t>他就被无限往后推。规则越正确，个例越惨。</a:t>
            </a:r>
          </a:p>
          <a:p/>
          <a:p>
            <a:r>
              <a:t>所以加了 defer_protect_min，默认 45 分钟：等超过 45 分钟就自动转回正常次序，</a:t>
            </a:r>
          </a:p>
          <a:p>
            <a:r>
              <a:t>并且明确告诉患者"您已转为正常次序"。</a:t>
            </a:r>
          </a:p>
          <a:p/>
          <a:p>
            <a:r>
              <a:t>这里我要强调一句：这不是给迟到者的奖励。它的真正作用，</a:t>
            </a:r>
          </a:p>
          <a:p>
            <a:r>
              <a:t>是把"护士要不要通融"这个最费口舌的临场判断，变成了一条制度。</a:t>
            </a:r>
          </a:p>
          <a:p>
            <a:r>
              <a:t>护士不用再顶着患者的压力做决定，规则替她挡住了。</a:t>
            </a:r>
          </a:p>
          <a:p/>
          <a:p>
            <a:r>
              <a:t>同类约束还有一条：规则权重的比较只在同一个优先级带内部生效，</a:t>
            </a:r>
          </a:p>
          <a:p>
            <a:r>
              <a:t>绝不跨带。因为一旦跨带，就等于在数值上默认了"某种情况迟到可以压过急症"，</a:t>
            </a:r>
          </a:p>
          <a:p>
            <a:r>
              <a:t>而 f40 是明令禁止的。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这一页是整份作业的核心，请老师们给我两分钟。</a:t>
            </a:r>
          </a:p>
          <a:p/>
          <a:p>
            <a:r>
              <a:t>这条洞察不在访谈里，是我从数据里算出来的，但它决定了整个方案能不能兑现承诺。</a:t>
            </a:r>
          </a:p>
          <a:p/>
          <a:p>
            <a:r>
              <a:t>在"医生从不空等"的前提下，Σ等待时间 = Σ开始时刻 减 Σ到达时刻，</a:t>
            </a:r>
          </a:p>
          <a:p>
            <a:r>
              <a:t>这是一个与排序方式无关的常数。换句话说：纯排序只能把等待从一群人转移给另一群人，</a:t>
            </a:r>
          </a:p>
          <a:p>
            <a:r>
              <a:t>它不改变总量。</a:t>
            </a:r>
          </a:p>
          <a:p/>
          <a:p>
            <a:r>
              <a:t>那什么能改变总量？只有减少吞吐损失 —— 也就是那个 19% 爽约率造成的叫号空转。</a:t>
            </a:r>
          </a:p>
          <a:p>
            <a:r>
              <a:t>现状叫号机认号不认人，叫到空号就干等，一次浪费顺着队列传给后面所有人。</a:t>
            </a:r>
          </a:p>
          <a:p/>
          <a:p>
            <a:r>
              <a:t>我用三种策略跑了同一批到达过程：现状平均 46.9 分钟，建议策略 38.4 分钟，</a:t>
            </a:r>
          </a:p>
          <a:p>
            <a:r>
              <a:t>降了 18.1%。而"纯先到先看"的理论参考线是 39.2 分钟 ——</a:t>
            </a:r>
          </a:p>
          <a:p>
            <a:r>
              <a:t>建议策略已经比它还好 0.8 分钟。</a:t>
            </a:r>
          </a:p>
          <a:p/>
          <a:p>
            <a:r>
              <a:t>结论是：排序能拿的空间基本到顶了，再想往下压只能加号源或改排班。</a:t>
            </a:r>
          </a:p>
          <a:p/>
          <a:p>
            <a:r>
              <a:t>这个结论比"我们能降 40%"有用得多，也比它诚实。我还要说一句代价：</a:t>
            </a:r>
          </a:p>
          <a:p>
            <a:r>
              <a:t>最长等待反而从 130 分钟涨到 155 分钟，因为迟到和加号被有意识地往后放，</a:t>
            </a:r>
          </a:p>
          <a:p>
            <a:r>
              <a:t>这部分人替大家承担了成本。这个代价要不要接受，是院方的管理决定，</a:t>
            </a:r>
          </a:p>
          <a:p>
            <a:r>
              <a:t>不是算法能替谁拍板的。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这是转型后的流程图。我把它拆成四道闸门，每一道都能指回一条事实。</a:t>
            </a:r>
          </a:p>
          <a:p/>
          <a:p>
            <a:r>
              <a:t>第一道是只读快照管道：三个系统按业务编号对齐，每份数据都带时间戳和版本号。</a:t>
            </a:r>
          </a:p>
          <a:p>
            <a:r>
              <a:t>第二道是质量闸门：有问题的记录在这里被拦下，不进建议。</a:t>
            </a:r>
          </a:p>
          <a:p>
            <a:r>
              <a:t>第三道是规则引擎：六条规则，每条都必须带 evidence，没有证据的规则不给合并。</a:t>
            </a:r>
          </a:p>
          <a:p>
            <a:r>
              <a:t>第四道是分带建议加人工复核，最后追加写进审计。</a:t>
            </a:r>
          </a:p>
          <a:p/>
          <a:p>
            <a:r>
              <a:t>这里有个降级设计要特别提一下：接口断了怎么办？</a:t>
            </a:r>
          </a:p>
          <a:p>
            <a:r>
              <a:t>答案是继续用带时间戳的上一份快照，界面上显示"暂未更新"。</a:t>
            </a:r>
          </a:p>
          <a:p>
            <a:r>
              <a:t>为什么不直接停？因为现状是护士靠嘴解释，系统停了她照样要解释 ——</a:t>
            </a:r>
          </a:p>
          <a:p>
            <a:r>
              <a:t>那不如让她看着一份过期的、但明确标注了过期的数据。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把两张图放在一起看，差别不在"加了几个系统"，而在一个节点的位移。</a:t>
            </a:r>
          </a:p>
          <a:p/>
          <a:p>
            <a:r>
              <a:t>这个节点就是"解释次序"。</a:t>
            </a:r>
          </a:p>
          <a:p/>
          <a:p>
            <a:r>
              <a:t>现状下，这件事是护士凭记忆临时拼凑 —— 她其实判断得不错，</a:t>
            </a:r>
          </a:p>
          <a:p>
            <a:r>
              <a:t>但依据散在三个系统里，她拿不出来，患者不信。</a:t>
            </a:r>
          </a:p>
          <a:p/>
          <a:p>
            <a:r>
              <a:t>转型后，这件事变成护士照着统一口径念 —— 判断还是她做，</a:t>
            </a:r>
          </a:p>
          <a:p>
            <a:r>
              <a:t>但每条建议底下都压着原始依据和快照版本，她照着念就行。</a:t>
            </a:r>
          </a:p>
          <a:p/>
          <a:p>
            <a:r>
              <a:t>所以我给这张 PPT 的标题是：判断权没有移动，移动的只是支撑判断的信息。</a:t>
            </a:r>
          </a:p>
          <a:p/>
          <a:p>
            <a:r>
              <a:t>这一点非常重要，因为它回答了一个必然会被问到的问题：</a:t>
            </a:r>
          </a:p>
          <a:p>
            <a:r>
              <a:t>"你们这个系统是不是在替医生做分诊？" —— 不是。</a:t>
            </a:r>
          </a:p>
          <a:p>
            <a:r>
              <a:t>系统只负责把依据摆到护士面前，专业判断始终由医护确认。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架构上我做了四层，而且是严格的单向依赖。</a:t>
            </a:r>
          </a:p>
          <a:p/>
          <a:p>
            <a:r>
              <a:t>展示层只管把东西画出来，输出的是一个单文件 HTML，没有任何外部资源引用 ——</a:t>
            </a:r>
          </a:p>
          <a:p>
            <a:r>
              <a:t>这一点是为了院内网络环境准备的，离线双击就能开。</a:t>
            </a:r>
          </a:p>
          <a:p/>
          <a:p>
            <a:r>
              <a:t>编排层是 CLI 入口，四个子命令。</a:t>
            </a:r>
          </a:p>
          <a:p/>
          <a:p>
            <a:r>
              <a:t>业务层是核心：队列回放、规则、审计。</a:t>
            </a:r>
          </a:p>
          <a:p/>
          <a:p>
            <a:r>
              <a:t>数据层是配置、读写、数据质量和模型。</a:t>
            </a:r>
          </a:p>
          <a:p/>
          <a:p>
            <a:r>
              <a:t>单向依赖的意思是：业务层根本不知道 HTML 的存在，展示层也不做任何决策。</a:t>
            </a:r>
          </a:p>
          <a:p>
            <a:r>
              <a:t>为什么要这么较真？因为一旦将来要换成企业微信卡片、或者护士站那块大屏，</a:t>
            </a:r>
          </a:p>
          <a:p>
            <a:r>
              <a:t>我只改展示层，规则代码一行都不用动。这对一个要进医院的项目很重要 ——</a:t>
            </a:r>
          </a:p>
          <a:p>
            <a:r>
              <a:t>你不知道下次要接的是什么终端。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规则引擎的设计有一条硬规矩：每条规则必须带四样东西。</a:t>
            </a:r>
          </a:p>
          <a:p/>
          <a:p>
            <a:r>
              <a:t>code 是机器读的，进审计；label 是给人看的，上看板；weight 只在同一个优先级带内部</a:t>
            </a:r>
          </a:p>
          <a:p>
            <a:r>
              <a:t>排序用；evidence 是可追溯到原记录的那句话。</a:t>
            </a:r>
          </a:p>
          <a:p/>
          <a:p>
            <a:r>
              <a:t>这里最要紧的是 evidence —— 没有 evidence 的规则，不给合并。这条写在贡献指南里，</a:t>
            </a:r>
          </a:p>
          <a:p>
            <a:r>
              <a:t>叫 R3。</a:t>
            </a:r>
          </a:p>
          <a:p/>
          <a:p>
            <a:r>
              <a:t>为什么定这条规矩？因为事实 f15 里护士说了：建议必须显示对应原记录和待确认字段，</a:t>
            </a:r>
          </a:p>
          <a:p>
            <a:r>
              <a:t>错误结果不能覆盖原记录。她要的不是一个结论，是能拿出去给人看的依据。</a:t>
            </a:r>
          </a:p>
          <a:p/>
          <a:p>
            <a:r>
              <a:t>另外我再强调一下 weight 的作用范围：它只在带内排序，不对外宣称是"风险分"。</a:t>
            </a:r>
          </a:p>
          <a:p>
            <a:r>
              <a:t>因为我们不做临床判断，一旦给出一个分数，外界就会按分数理解，那就越界了。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一共四条命令，每条命令都对应一个具体的岗位。</a:t>
            </a:r>
          </a:p>
          <a:p/>
          <a:p>
            <a:r>
              <a:t>check 给系统工程师用，做数据质量体检；snapshot 给护士用，打印某一时刻的建议队列，</a:t>
            </a:r>
          </a:p>
          <a:p>
            <a:r>
              <a:t>纯文本可以直接贴进聊天窗口；demo 给运营主任看效果，跑全量回放；serve 用于试点现场宣讲。</a:t>
            </a:r>
          </a:p>
          <a:p/>
          <a:p>
            <a:r>
              <a:t>跑完产出四样东西：单文件看板、建议清单、回放 JSON、审计流水。</a:t>
            </a:r>
          </a:p>
          <a:p/>
          <a:p>
            <a:r>
              <a:t>这里有个刻意的设计：运行时零第三方依赖，只用标准库，Python 3.9 就能跑。</a:t>
            </a:r>
          </a:p>
          <a:p>
            <a:r>
              <a:t>为什么要这么克制？因为院内装包要过审批。依赖越少，这个项目越容易真的进得去。</a:t>
            </a:r>
          </a:p>
          <a:p>
            <a:r>
              <a:t>这不是技术洁癖，是交付考虑。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看板分三块。</a:t>
            </a:r>
          </a:p>
          <a:p/>
          <a:p>
            <a:r>
              <a:t>左边是队列分带：急症转人工、优先复核、让出波次、正常排队。</a:t>
            </a:r>
          </a:p>
          <a:p>
            <a:r>
              <a:t>这里的关键设计是四条带硬隔离 —— 带与带之间不做数值比较，</a:t>
            </a:r>
          </a:p>
          <a:p>
            <a:r>
              <a:t>急症永远在第一位且永不参与排序。</a:t>
            </a:r>
          </a:p>
          <a:p/>
          <a:p>
            <a:r>
              <a:t>中间是建议卡，每位患者一张。每张卡底下必定压着两样东西：</a:t>
            </a:r>
          </a:p>
          <a:p>
            <a:r>
              <a:t>一是"依据"，比如"预约 09:04，签到 09:13，年龄 78"；</a:t>
            </a:r>
          </a:p>
          <a:p>
            <a:r>
              <a:t>二是"给患者的解释口径"，就是护士照着念的那句话。</a:t>
            </a:r>
          </a:p>
          <a:p/>
          <a:p>
            <a:r>
              <a:t>右边是边界面板，放的是那些"不发生场景下不允许含糊"的东西：</a:t>
            </a:r>
          </a:p>
          <a:p>
            <a:r>
              <a:t>数据截止时间、人机协作边界、转人工触发条件、以及三套口径的差值。</a:t>
            </a:r>
          </a:p>
          <a:p/>
          <a:p>
            <a:r>
              <a:t>我要特别说一句关键取舍：所有急诊和待复核的卡片，默认状态都是"待人工确认"，</a:t>
            </a:r>
          </a:p>
          <a:p>
            <a:r>
              <a:t>必须有人点了确认才流转。这是事实 f44 的要求 —— 转人工时要标注触发原因、</a:t>
            </a:r>
          </a:p>
          <a:p>
            <a:r>
              <a:t>接手人和确认时间，不能只给一句模糊提醒。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这一页是"不做什么"的清单。我认为对医疗项目来说，这一页比"做了什么"更重要。</a:t>
            </a:r>
          </a:p>
          <a:p/>
          <a:p>
            <a:r>
              <a:t>不做自动分诊、诊断、医嘱、处方 —— 因为访谈里范围就定死了：时间解释与队列信息辅助，</a:t>
            </a:r>
          </a:p>
          <a:p>
            <a:r>
              <a:t>专业判断由医护确认。</a:t>
            </a:r>
          </a:p>
          <a:p/>
          <a:p>
            <a:r>
              <a:t>不写回 HIS、预约平台、叫号系统 —— 接口权限就是只读的，</a:t>
            </a:r>
          </a:p>
          <a:p>
            <a:r>
              <a:t>而且一旦开了写接口，责任边界立刻模糊：数据错了算谁的？</a:t>
            </a:r>
          </a:p>
          <a:p/>
          <a:p>
            <a:r>
              <a:t>不做实时秒级推送 —— 试点阶段每天两次授权更新，超时必须标注"暂未更新"。</a:t>
            </a:r>
          </a:p>
          <a:p>
            <a:r>
              <a:t>这一条看着是技术限制，其实是保护：避免护士把历史快照当成实时承诺说出去。</a:t>
            </a:r>
          </a:p>
          <a:p/>
          <a:p>
            <a:r>
              <a:t>最后一条最容易被注水：不用节省工时直接推算 ROI。</a:t>
            </a:r>
          </a:p>
          <a:p>
            <a:r>
              <a:t>运营主任明确要求扣除维护与人工复核成本 —— 因为本方案必然增加复核工时。</a:t>
            </a:r>
          </a:p>
          <a:p>
            <a:r>
              <a:t>它把"反复口头解释"的低价值时间，换成了"看一眼确认"的高价值时间，</a:t>
            </a:r>
          </a:p>
          <a:p>
            <a:r>
              <a:t>但你不能说这是净省钱。</a:t>
            </a:r>
          </a:p>
          <a:p/>
          <a:p>
            <a:r>
              <a:t>这五条我写进了贡献指南，R1 和 R2 是代码评审的一票否决项。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行业这块我讲三个数字就够了。</a:t>
            </a:r>
          </a:p>
          <a:p/>
          <a:p>
            <a:r>
              <a:t>第一个是盘子：2020 年 5.2 亿，2025 年预计 59.5 亿，六年十倍，复合增速 62.8%。</a:t>
            </a:r>
          </a:p>
          <a:p>
            <a:r>
              <a:t>但未来五年会回落到 21.5% —— 这不是需求萎缩，是基数抬高了。</a:t>
            </a:r>
          </a:p>
          <a:p>
            <a:r>
              <a:t>对我们的含义是：高速增长的年份里甲方愿意为"故事"付钱，</a:t>
            </a:r>
          </a:p>
          <a:p>
            <a:r>
              <a:t>增速回落的年份里甲方只认 ROI。所以我们的报价必须保守。</a:t>
            </a:r>
          </a:p>
          <a:p/>
          <a:p>
            <a:r>
              <a:t>第二个是渗透率：三级医院核心门诊模块部署率超过八成，但真正把数据用起来的不到两成。</a:t>
            </a:r>
          </a:p>
          <a:p>
            <a:r>
              <a:t>这句话我建议抄进每一份方案 —— 存量不是没有系统，是系统没被用起来。</a:t>
            </a:r>
          </a:p>
          <a:p>
            <a:r>
              <a:t>所以我们的定位是激活，不是替换，这跟访谈里 f05 的要求（并行试点不替换）完全对上。</a:t>
            </a:r>
          </a:p>
          <a:p/>
          <a:p>
            <a:r>
              <a:t>第三个是政策抓手，它解决"钱从哪个科目出"的问题：</a:t>
            </a:r>
          </a:p>
          <a:p>
            <a:r>
              <a:t>智慧服务分级评估让门诊有了独立立项的理由；</a:t>
            </a:r>
          </a:p>
          <a:p>
            <a:r>
              <a:t>门诊质量管理规定要求按日均门诊量 0.2% 配备导医 —— 按日均 1600 人次算就是</a:t>
            </a:r>
          </a:p>
          <a:p>
            <a:r>
              <a:t>3.2 个人力当量，我们的解释卡片替代的正是其中的"重复解释"部分。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报价三段式：试点固定总价 16 万，与访谈里运营主任给的首期预算完全一致；</a:t>
            </a:r>
          </a:p>
          <a:p>
            <a:r>
              <a:t>推广按科室年订阅，每科室 2 到 4 万；规模化按门诊量阶梯。</a:t>
            </a:r>
          </a:p>
          <a:p/>
          <a:p>
            <a:r>
              <a:t>为什么要 40% 预付款？因为行业平均应收账款周转天数已经从 2020 年的 170 天</a:t>
            </a:r>
          </a:p>
          <a:p>
            <a:r>
              <a:t>拉长到 220 天以上。我们这种小额试点没有现金流去扛两百天账期。</a:t>
            </a:r>
          </a:p>
          <a:p>
            <a:r>
              <a:t>这一条写在明处，比事后催款体面。</a:t>
            </a:r>
          </a:p>
          <a:p/>
          <a:p>
            <a:r>
              <a:t>里程碑四周：第一周建基线，第二周只读对接加脏数据清单，</a:t>
            </a:r>
          </a:p>
          <a:p>
            <a:r>
              <a:t>第三周并行运行，第四周验收。每周收集三个岗位的误判例子，</a:t>
            </a:r>
          </a:p>
          <a:p>
            <a:r>
              <a:t>先复测指标再改规则版本 —— 这是 f55 的要求，它防的是团队为了数字好看反复调参。</a:t>
            </a:r>
          </a:p>
          <a:p/>
          <a:p>
            <a:r>
              <a:t>最后一句请老师们记住：口径一旦在验收前改写，数据就失去意义。这一条建议写进合同。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最后一页是局限清单，我主动讲，不等老师问。</a:t>
            </a:r>
          </a:p>
          <a:p/>
          <a:p>
            <a:r>
              <a:t>第一，数据是合成的。指标的绝对值没有参考意义，</a:t>
            </a:r>
          </a:p>
          <a:p>
            <a:r>
              <a:t>真正有意义的只有"先到先看"和"建议策略"之间的相对差值 —— 它代表规则的作用方向。</a:t>
            </a:r>
          </a:p>
          <a:p/>
          <a:p>
            <a:r>
              <a:t>第二，医生进度落后这条规则目前是静态参数注入，不是真正的预测。</a:t>
            </a:r>
          </a:p>
          <a:p/>
          <a:p>
            <a:r>
              <a:t>第三，队列模型只做了单医生单队列，没有建模检查回来之后的二次排队。</a:t>
            </a:r>
          </a:p>
          <a:p/>
          <a:p>
            <a:r>
              <a:t>第四，看板是静态的，没有实现"护士点击确认"的写回。这符合只读约束，</a:t>
            </a:r>
          </a:p>
          <a:p>
            <a:r>
              <a:t>但代价是复核动作还得在纸质或原系统完成 —— 这是真实的使用成本，不能假装不存在。</a:t>
            </a:r>
          </a:p>
          <a:p/>
          <a:p>
            <a:r>
              <a:t>第五，规则权重是我按业务判断设的，没有经过真实数据标定。</a:t>
            </a:r>
          </a:p>
          <a:p/>
          <a:p>
            <a:r>
              <a:t>第一条和第五条最重要，我再说一遍：不要拿着"中位下降 X%"去汇报。</a:t>
            </a:r>
          </a:p>
          <a:p>
            <a:r>
              <a:t>它证明的是"这套规则在当前假设下会这样排序"，不是"上线就能降 X%"。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最后用三句话收尾。</a:t>
            </a:r>
          </a:p>
          <a:p/>
          <a:p>
            <a:r>
              <a:t>第一句：我们只解决三件事 —— 谁先看、为什么、等多久。不多做一点点。</a:t>
            </a:r>
          </a:p>
          <a:p/>
          <a:p>
            <a:r>
              <a:t>第二句：系统只给建议，决定永远由人来做。急症一律转人工，建议永不自动生效。</a:t>
            </a:r>
          </a:p>
          <a:p/>
          <a:p>
            <a:r>
              <a:t>第三句：先建基线再谈优化，口径写死再谈收益。这两条顺序反了，项目迟早要还。</a:t>
            </a:r>
          </a:p>
          <a:p/>
          <a:p>
            <a:r>
              <a:t>项目已经在 GitHub 上开源，Apache-2.0 许可，用的是合成数据，</a:t>
            </a:r>
          </a:p>
          <a:p>
            <a:r>
              <a:t>不含任何真实患者信息。</a:t>
            </a:r>
          </a:p>
          <a:p/>
          <a:p>
            <a:r>
              <a:t>我的汇报到这里，请各位老师批评指正。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424160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门诊预约与分诊协作助手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42416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500" b="0">
                <a:solidFill>
                  <a:srgbClr val="9ECBE8"/>
                </a:solidFill>
                <a:latin typeface="Microsoft YaHei"/>
                <a:ea typeface="Microsoft YaHei"/>
                <a:cs typeface="Microsoft YaHei"/>
              </a:rPr>
              <a:t>一个只读的「次序解释引擎」MVP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03320"/>
            <a:ext cx="3108960" cy="27432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42416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600" b="0">
                <a:solidFill>
                  <a:srgbClr val="C7D9E6"/>
                </a:solidFill>
                <a:latin typeface="Microsoft YaHei"/>
                <a:ea typeface="Microsoft YaHei"/>
                <a:cs typeface="Microsoft YaHei"/>
              </a:rPr>
              <a:t>从 35 条访谈事实，到一个能跑起来的原型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>
                <a:solidFill>
                  <a:srgbClr val="C7D9E6"/>
                </a:solidFill>
                <a:latin typeface="Microsoft YaHei"/>
                <a:ea typeface="Microsoft YaHei"/>
                <a:cs typeface="Microsoft YaHei"/>
              </a:rPr>
              <a:t>FDE Discovery Lab · healthcare-appointments 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8AA8BE"/>
                </a:solidFill>
                <a:latin typeface="Microsoft YaHei"/>
                <a:ea typeface="Microsoft YaHei"/>
                <a:cs typeface="Microsoft YaHei"/>
              </a:rPr>
              <a:t>答辩汇报 · 2026-10-31 · github.com/kekekekeke171717/-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01 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16152"/>
            <a:ext cx="11057839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1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不做自动分诊，只把「谁先看、为什么、等多久」这三件事讲清楚。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30552"/>
            <a:ext cx="3515258" cy="23317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30552"/>
            <a:ext cx="3515258" cy="4114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77440"/>
            <a:ext cx="305805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>
                <a:solidFill>
                  <a:srgbClr val="B9D2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62072"/>
            <a:ext cx="3058058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谁排在我前面，为什么？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47872"/>
            <a:ext cx="3058058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迟到患者与现场加号混在队列里，护士反复解释次序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114800"/>
            <a:ext cx="305805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事实依据 f10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2130552"/>
            <a:ext cx="3515258" cy="23317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2130552"/>
            <a:ext cx="3515258" cy="4114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962" y="2377440"/>
            <a:ext cx="305805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>
                <a:solidFill>
                  <a:srgbClr val="B9D2E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2862072"/>
            <a:ext cx="3058058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我还要等多久？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962" y="3547872"/>
            <a:ext cx="3058058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患者以到院算等待、叫号系统以签到算、运营以预约时间算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962" y="4114800"/>
            <a:ext cx="305805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事实依据 f50 / f53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9508" y="2130552"/>
            <a:ext cx="3515258" cy="23317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9508" y="2130552"/>
            <a:ext cx="3515258" cy="4114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7252" y="2377440"/>
            <a:ext cx="305805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>
                <a:solidFill>
                  <a:srgbClr val="B9D2E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7252" y="2862072"/>
            <a:ext cx="3058058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我前面的医生去哪了？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7252" y="3547872"/>
            <a:ext cx="3058058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医生临时处理急诊，排班未同步，患者却收到准点到诊通知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7252" y="4114800"/>
            <a:ext cx="305805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事实依据 f11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577840"/>
            <a:ext cx="11057839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5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所以本 MVP 的全部功能，就是让这三句话有统一、可追溯、可复核的答案。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刻意不做：不打通三方系统做实时写入（f32 只读）、不给风险评分（f40）、不把节省工时当现金回款（f03）。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02 议程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060704" cy="786384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61872"/>
            <a:ext cx="1060704" cy="7863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27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5376" y="1353312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需求从哪来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737360"/>
            <a:ext cx="96926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6 个角色 × 35 条事实，以及这条决策链上谁能一票否决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57984"/>
            <a:ext cx="1060704" cy="786384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57984"/>
            <a:ext cx="1060704" cy="7863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27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2249424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现状与症结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633472"/>
            <a:ext cx="96926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主流程节点、三系统孤岛、以及四个被忽略的症结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54096"/>
            <a:ext cx="1060704" cy="786384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54096"/>
            <a:ext cx="1060704" cy="7863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27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5376" y="3145536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四条关键洞察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3529584"/>
            <a:ext cx="96926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口径冲突、脏数据隔离、让位上限、纯排序的极限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50208"/>
            <a:ext cx="1060704" cy="786384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50208"/>
            <a:ext cx="1060704" cy="7863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27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5376" y="4041648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方案与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4425696"/>
            <a:ext cx="96926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两张流程图对着看：一个节点的位移；四条命令与四样产出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846320"/>
            <a:ext cx="1060704" cy="786384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846320"/>
            <a:ext cx="1060704" cy="7863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27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5376" y="493776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商业化与风险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5321808"/>
            <a:ext cx="96926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行业盘子、错位定位、16 万报价、验收口径与局限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需求从哪来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03 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7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Discovery Lab 系统化访谈 · 事实集是设计、报价、验收的唯一依据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来源：FDE Discovery Lab「门诊预约与分诊协作」场景（healthcare-appointments）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25979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对门诊运营主任、导诊护士、排班管理员、门诊系统工程师、医疗质控专员、患者服务主管 6 个岗位做结构化访谈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78024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产出：35 条事实，每条保留访谈原话 + 证据编号（医疗-00x）+ 验收口径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66644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刻意不改写原话 —— 改写一次，信息就损失一次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18687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用法：仓库里设计文档、代码注释、贡献指南红线，引用的都是同一套编号 f00–f55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607307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评审时每个设计决定都要能指回一条事实；指不回的，就是设计者的臆想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370832"/>
            <a:ext cx="11057839" cy="13258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517136"/>
            <a:ext cx="10509199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决策链路（事实 f04）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7" y="4901184"/>
            <a:ext cx="319826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901184"/>
            <a:ext cx="3198266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2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门诊运营主任</a:t>
            </a:r>
          </a:p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推动立项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9514" y="508406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0">
                <a:solidFill>
                  <a:srgbClr val="2E8BC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6714" y="4901184"/>
            <a:ext cx="319826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6714" y="4901184"/>
            <a:ext cx="3198266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2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医疗质控专员</a:t>
            </a:r>
          </a:p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可否决上线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4980" y="508406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0">
                <a:solidFill>
                  <a:srgbClr val="2E8BC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2180" y="4901184"/>
            <a:ext cx="319826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2180" y="4901184"/>
            <a:ext cx="3198266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2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患者服务主管</a:t>
            </a:r>
          </a:p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参与结果验收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这条链路决定了文档写给谁看：运营看收益、质控看风险、服务看口径 —— 三个视角缺一不可。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六个角色 · 谁说了算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03 需求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70432"/>
          <a:ext cx="11057837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1867"/>
                <a:gridCol w="1675430"/>
                <a:gridCol w="1005258"/>
                <a:gridCol w="4691204"/>
                <a:gridCol w="2904078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姓名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他/她真正关心什么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能否否决上线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门诊运营主任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顾明岚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目标、预算、立项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立项发起人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导诊护士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林亦舟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现场怎么顺手、别背锅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排班管理员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唐映秋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规则版本、交接留痕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R4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门诊系统工程师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秦芮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数据能不能接、有没有权限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医疗质控专员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傅景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风险、审计、留存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** 可以否决（关键风险）**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R6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患者服务主管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叶书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指标口径、投诉处理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参与服务结果验收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709160"/>
            <a:ext cx="11057839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R5 是全篇最需要盯住的人：质控专员能否决上线，所以「急症一律转人工」和「每条建议可追溯」不是加分项，是通行证。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138928"/>
            <a:ext cx="11057839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R2 是每天真正用它的人：她不愿意为了看建议而离开现有终端 —— 这一条直接决定了 MVP 的形态。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决定项目形态的三句话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03 需求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16152"/>
            <a:ext cx="11057839" cy="1225296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16152"/>
            <a:ext cx="45720" cy="1225296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362456"/>
            <a:ext cx="1316736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f00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380744"/>
            <a:ext cx="292608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门诊运营主任 · 顾明岚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783080"/>
            <a:ext cx="8680399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候诊中位数 68 分钟，报告说 25 分钟 —— 目标 40 分钟；爽约率 19%，目标 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8767" y="1819656"/>
            <a:ext cx="201168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B46A05"/>
                </a:solidFill>
                <a:latin typeface="Microsoft YaHei"/>
                <a:ea typeface="Microsoft YaHei"/>
                <a:cs typeface="Microsoft YaHei"/>
              </a:rPr>
              <a:t>指标口径先打架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87752"/>
            <a:ext cx="11057839" cy="1225296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87752"/>
            <a:ext cx="45720" cy="1225296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734056"/>
            <a:ext cx="1316736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f10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752344"/>
            <a:ext cx="292608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导诊护士 · 林亦舟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154680"/>
            <a:ext cx="8680399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迟到患者与现场加号混在队列里，护士反复解释次序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8767" y="3191256"/>
            <a:ext cx="201168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B46A05"/>
                </a:solidFill>
                <a:latin typeface="Microsoft YaHei"/>
                <a:ea typeface="Microsoft YaHei"/>
                <a:cs typeface="Microsoft YaHei"/>
              </a:rPr>
              <a:t>解释没有统一口径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59352"/>
            <a:ext cx="11057839" cy="1225296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59352"/>
            <a:ext cx="45720" cy="1225296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105656"/>
            <a:ext cx="1316736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f50 / f53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4123944"/>
            <a:ext cx="292608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患者服务主管 · 叶书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526280"/>
            <a:ext cx="8680399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患者以到院算等待，叫号系统以签到算等待，运营以预约时间算等待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8767" y="4562856"/>
            <a:ext cx="201168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B46A05"/>
                </a:solidFill>
                <a:latin typeface="Microsoft YaHei"/>
                <a:ea typeface="Microsoft YaHei"/>
                <a:cs typeface="Microsoft YaHei"/>
              </a:rPr>
              <a:t>三种口径并存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现状流程（AS-IS）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04 现状</a:t>
            </a:r>
          </a:p>
        </p:txBody>
      </p:sp>
      <p:pic>
        <p:nvPicPr>
          <p:cNvPr id="6" name="Picture 5" descr="flow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52144"/>
            <a:ext cx="2920621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98444" y="1170432"/>
            <a:ext cx="782632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主流程（事实 f01）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8444" y="1645920"/>
            <a:ext cx="782632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预约 → 到院登记 → 分诊 → 候诊 → 接诊 → 检查交接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8444" y="2009140"/>
            <a:ext cx="782632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退回上一节点时必须保留原因，不许只写「已处理」（f20）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8444" y="2372360"/>
            <a:ext cx="782632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四个节点责任人分散在三个人身上（f20 / f21）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8444" y="2735580"/>
            <a:ext cx="782632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没有统一视图：预约平台、HIS、叫号系统各管一段（f30）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8444" y="3098800"/>
            <a:ext cx="782632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解释次序靠护士的记忆与个人便签（f10 / f14）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四个症结 · 以及为什么先做基线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04 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16152"/>
            <a:ext cx="5391759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16152"/>
            <a:ext cx="41148" cy="20116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99032"/>
            <a:ext cx="493455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没有基线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37944"/>
            <a:ext cx="4934559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依据 f01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21992"/>
            <a:ext cx="4888839" cy="868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管理层还没有分别量出每个节点的等待和处理时间。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→ 现在不能承诺「缩短 X 分钟」，因为还没有可对比的基线。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216152"/>
            <a:ext cx="5391759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216152"/>
            <a:ext cx="41148" cy="20116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399032"/>
            <a:ext cx="493455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三系统孤岛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1837944"/>
            <a:ext cx="4934559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依据 f30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9" y="2221992"/>
            <a:ext cx="4888839" cy="868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预约平台、HIS、叫号系统账号权限独立维护，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业务状态没有统一视图。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83864"/>
            <a:ext cx="5391759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83864"/>
            <a:ext cx="41148" cy="20116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66744"/>
            <a:ext cx="493455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关键信息在便签里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6"/>
            <a:ext cx="4934559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依据 f14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9704"/>
            <a:ext cx="4888839" cy="868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同事常把关键说明留在个人便签或群里再补录，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这些说明没有随单据交接。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3483864"/>
            <a:ext cx="5391759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483864"/>
            <a:ext cx="41148" cy="20116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9039" y="3666744"/>
            <a:ext cx="493455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80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异常不留痕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9039" y="4105656"/>
            <a:ext cx="4934559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依据 f20 / f11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9039" y="4489704"/>
            <a:ext cx="4888839" cy="868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退回只写「已处理」；医生临时处理急诊，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排班未同步，患者却已收到准点通知。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779008"/>
            <a:ext cx="11057839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888736"/>
            <a:ext cx="106006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第一阶段必须先做基线测量，再谈优化 —— 这就是本 MVP 以「回放」形态存在的直接原因。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 ① · 三套「等待」口径是最大的隐性冲突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05 洞察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70432"/>
          <a:ext cx="11057837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6701"/>
                <a:gridCol w="1805361"/>
                <a:gridCol w="1918196"/>
                <a:gridCol w="5077579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部门 / 角色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等待起点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倾向的结果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本项目处理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患者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最长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三套并存，分别记录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叫号系统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签到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居中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三套并存，分别记录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预约时间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最短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三套并存，分别记录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246120"/>
            <a:ext cx="11057839" cy="1051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401568"/>
            <a:ext cx="1050919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7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这不是数据质量问题，是立场问题。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822191"/>
            <a:ext cx="10509199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所以方案不能「选一个正确的」，必须三套并存并明示差异 —— MVP 的 quality.wait_origin_report() 就干这个。
谁要是偷偷合并成一个数，试点验收那天一定吵架。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17720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事实依据：f50 / f53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 ② · 脏数据必须隔离，而不是修复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05 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访谈点名的三类脏数据（事实 f31）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627632"/>
            <a:ext cx="3539642" cy="56692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792224"/>
            <a:ext cx="353964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签到重复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9450" y="1627632"/>
            <a:ext cx="3539642" cy="56692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9450" y="1792224"/>
            <a:ext cx="353964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叫号遗漏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5396" y="1627632"/>
            <a:ext cx="3539642" cy="56692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5396" y="1792224"/>
            <a:ext cx="3539642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等待时间起点不统一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50591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规定动作（事实 f33）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26080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先校验「号源、医生排班、签到与叫号时间、分诊规则」里的主编号、事件时间、版本字段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302000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有歧义的记录进入人工修复队列，不进入自动推荐样本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677920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代码落实：quality.check() 产出的问题分「阻断」「提示」两级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017263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被标「阻断」的记录不参与任何建议计算 —— 宁可少给几条，也不给一条查无实据的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892040"/>
            <a:ext cx="11057839" cy="9144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047488"/>
            <a:ext cx="10509199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这条决定了 MVP 的分层：先体检，再建议。因为一条查不到依据的建议，比没有建议更糟 —— 它会让护士背锅。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 ③ · 让位必须有上限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05 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起因：只做「迟到者让出波次」这一条规则，队尾的人会被无限往后推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546352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MVP 早期回放里出现过单个患者等待 200 分钟以上 —— 规则越对，个例越惨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85696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机制：defer_protect_min（默认 45 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61616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等待超过阈值就自动转回正常次序，并且明确告诉患者「已转为正常次序」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00960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边界：这不是给迟到者的奖励，是把最费口舌的那件事制度化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76880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护士不用再临场判断「这次要不要通融」，规则替她挡住压力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16224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同类约束：急症 EMERGENCY 不参与任何排序；weight 只在同一带内比较，不跨带（f40）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434840"/>
            <a:ext cx="11057839" cy="13716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590288"/>
            <a:ext cx="1050919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为什么 weight 不能跨带比较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983480"/>
            <a:ext cx="10509199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如果把「迟到 15 分」和「急症 100 分」放进同一个分值体系排序，就等于在数值上默认了「某种情况下迟到可以压过急症」——
而 f40 明确禁止这种可能。所以权重只在带内生效，带与带之间是硬隔离。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 ④ · 纯排序救不了候诊长度（核心结论）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05 洞察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7839" cy="56692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06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前提（医生从不空等）：  Σ等待时间 = Σ开始时刻 − Σ到达时刻  =  与排序方式无关的常数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947672"/>
          <a:ext cx="11057836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44889"/>
                <a:gridCol w="1927513"/>
                <a:gridCol w="2941993"/>
                <a:gridCol w="1724617"/>
                <a:gridCol w="1318824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候诊中位数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平均候诊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最长候诊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叫空号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现状 · 按号序叫号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47.5 分钟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46.9 分钟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130 分钟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次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F7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建议策略 · 动态排序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F7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19.5 分钟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F7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38.4 分钟（−18.1%）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F7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155 分钟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F7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次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参考线 · 纯先到先看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34.0 分钟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39.2 分钟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112 分钟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次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77647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平均候诊 −18.1%，已贴着参考线（相差 0.8 分钟/人）→ 排序能拿的空间基本到顶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39692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想再往下压，只能加号源或改排班，继续调规则是在浪费时间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466336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中位降了 58.9%，但含「转移」成分，不能直接当净收益汇报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29556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最长等待反而变长：130 → 155 分钟 —— 迟到与加号被有意识地往后放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192776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这部分人替大家承担了成本。这个代价要不要接受，是院方的管理决定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转型后流程（TO-BE）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06 方案</a:t>
            </a:r>
          </a:p>
        </p:txBody>
      </p:sp>
      <p:pic>
        <p:nvPicPr>
          <p:cNvPr id="6" name="Picture 5" descr="flow-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52144"/>
            <a:ext cx="2591809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69633" y="1170432"/>
            <a:ext cx="815513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四道闸门（每层都有事实依据）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9633" y="1627632"/>
            <a:ext cx="815513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① 只读快照管道：预约平台 + HIS + 叫号系统按业务编号对齐，带时间戳与版本（f32 / f34）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9633" y="1990852"/>
            <a:ext cx="815513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② 质量闸门：阻断 / 提示两级，有歧义记录不进建议（f33）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9633" y="2354072"/>
            <a:ext cx="815513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③ 规则引擎：6 条规则，每条必带 evidence，否则不给合并（f15）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9633" y="2717292"/>
            <a:ext cx="815513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④ 分带建议 → 人工复核 → 追加写审计（f44 / f45）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9633" y="3080512"/>
            <a:ext cx="815513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降级：接口中断时用带时间戳的上一份快照，界面显示「暂未更新」（f35）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两张图之差：一个节点的位移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06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07592"/>
            <a:ext cx="11057839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24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判断权没有移动，移动的只是支撑判断的信息。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404872"/>
            <a:ext cx="530031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404872"/>
            <a:ext cx="5300319" cy="41148"/>
          </a:xfrm>
          <a:prstGeom prst="rect">
            <a:avLst/>
          </a:prstGeom>
          <a:solidFill>
            <a:srgbClr val="6B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87752"/>
            <a:ext cx="4751679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现状 AS-IS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971800"/>
            <a:ext cx="4751679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0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「解释次序」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56432"/>
            <a:ext cx="4751679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护士凭记忆临时拼凑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依据散在三个系统里，拿不出来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2404872"/>
            <a:ext cx="5300319" cy="1600200"/>
          </a:xfrm>
          <a:prstGeom prst="rect">
            <a:avLst/>
          </a:prstGeom>
          <a:solidFill>
            <a:srgbClr val="E8F1F8"/>
          </a:solidFill>
          <a:ln w="9525">
            <a:solidFill>
              <a:srgbClr val="D8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4447" y="2404872"/>
            <a:ext cx="5300319" cy="41148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2587752"/>
            <a:ext cx="4751679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转型后 TO-BE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2971800"/>
            <a:ext cx="4751679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00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「解释次序」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3456432"/>
            <a:ext cx="4751679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护士照着统一口径念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每条都带原始依据与快照版本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029200"/>
            <a:ext cx="11057839" cy="7772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93792"/>
            <a:ext cx="10509199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差别不在「加了几个系统」，而在这一个节点的位移：专业分诊判断始终由医护确认（f05 / f40），系统只负责把依据摆到护士面前。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架构：四层，单向依赖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06 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371600" cy="77724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61872"/>
            <a:ext cx="1371600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8528" y="1261872"/>
            <a:ext cx="9686239" cy="7772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261872"/>
            <a:ext cx="9137599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io.render_dashboard()  →  out/dashboard.html（单文件、无外部资源）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39112"/>
            <a:ext cx="3657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31136"/>
            <a:ext cx="1371600" cy="777240"/>
          </a:xfrm>
          <a:prstGeom prst="rect">
            <a:avLst/>
          </a:prstGeom>
          <a:solidFill>
            <a:srgbClr val="2E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31136"/>
            <a:ext cx="1371600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8528" y="2231136"/>
            <a:ext cx="9686239" cy="7772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231136"/>
            <a:ext cx="9137599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main.py   check / snapshot / demo / 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008376"/>
            <a:ext cx="3657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200400"/>
            <a:ext cx="1371600" cy="777240"/>
          </a:xfrm>
          <a:prstGeom prst="rect">
            <a:avLst/>
          </a:prstGeom>
          <a:solidFill>
            <a:srgbClr val="3D9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200400"/>
            <a:ext cx="1371600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528" y="3200400"/>
            <a:ext cx="9686239" cy="7772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3200400"/>
            <a:ext cx="9137599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core/queue.py（回放与排序）· core/rules.py（规则）· core/audit.py（审计）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977640"/>
            <a:ext cx="3657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169664"/>
            <a:ext cx="1371600" cy="777240"/>
          </a:xfrm>
          <a:prstGeom prst="rect">
            <a:avLst/>
          </a:prstGeom>
          <a:solidFill>
            <a:srgbClr val="5A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169664"/>
            <a:ext cx="1371600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4169664"/>
            <a:ext cx="9686239" cy="7772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169664"/>
            <a:ext cx="9137599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utils/config.py · utils/io.py · utils/quality.py · core/models.py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074920"/>
            <a:ext cx="1105783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5212080"/>
            <a:ext cx="10509199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单向依赖是刻意的：业务层不认识 HTML，展示层不做决策。
将来换成企业微信卡片或护士站大屏，规则代码一行都不用改。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规则引擎 · 每条规则必须有四样东西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06 方案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70432"/>
          <a:ext cx="11057837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00942"/>
                <a:gridCol w="3159382"/>
                <a:gridCol w="4317822"/>
                <a:gridCol w="1579691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动作倾向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EMERGENCY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急症标记 / 一级分诊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**强制转人工，不参与排序**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f40 / f42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LATE_ARRIVAL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迟到超过宽限 15 分钟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让出当前波次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f10 / f31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WALK_IN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现场加号混入预约队列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标注来源与预计时段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COMEBACK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回诊患者（检查后复诊）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优先复核带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f01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VULNERABLE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高龄 ≥75 / 低龄 ≤6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优先复核带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脆弱人群保护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DOCTOR_OVERRUN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医生进度落后 &gt;20 分钟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更正预计时段，不承诺分钟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f11 / f34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206240"/>
            <a:ext cx="11057839" cy="15087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352544"/>
            <a:ext cx="10509199" cy="12801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code      机器可读代号，进审计
label     人可读标签，上看板
weight    仅用于带内排序，不对外宣称「风险分」
evidence  可追溯到原记录 —— **没有 evidence 的规则不给合并**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· 四条命令，各自为谁服务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06 方案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70432"/>
          <a:ext cx="11057838" cy="2176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671"/>
                <a:gridCol w="6237755"/>
                <a:gridCol w="3402412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谁用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数据质量体检：主编号、事件时间、版本字段校验，歧义记录隔离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门诊系统工程师（f33）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snapshot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打印某一时刻的建议队列，纯文本，可直接贴进聊天窗口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导诊护士快速核对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全量回放，产出看板 / 清单 / JSON / 审计流水四样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门诊运营主任看效果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本地只读预览服务，浏览器里翻页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试点现场宣讲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114800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产出四件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4572000"/>
            <a:ext cx="2618155" cy="1051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709160"/>
            <a:ext cx="2307259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dashboard.html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029200"/>
            <a:ext cx="230725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单文件看板，双击就能看，无需联网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4572000"/>
            <a:ext cx="2618155" cy="1051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2555" y="4709160"/>
            <a:ext cx="2307259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suggestions.csv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2555" y="5029200"/>
            <a:ext cx="230725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次序建议清单，每条含规则依据与解释口径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2423" y="4572000"/>
            <a:ext cx="2618155" cy="1051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7015" y="4709160"/>
            <a:ext cx="2307259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replay.json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7015" y="5029200"/>
            <a:ext cx="230725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回放结果与指标，供程序化核对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6883" y="4572000"/>
            <a:ext cx="2618155" cy="1051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475" y="4709160"/>
            <a:ext cx="2307259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audit.jsonl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475" y="5029200"/>
            <a:ext cx="230725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审计流水：建议生成即留痕，追加写、不可覆盖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看板长什么样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06 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16152"/>
            <a:ext cx="3503066" cy="56692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16152"/>
            <a:ext cx="350306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左侧 · 队列分带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3503066" cy="36576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93392"/>
            <a:ext cx="3064154" cy="3291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急症 · 转人工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优先复核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让出波次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正常排队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四条带硬隔离：带与带之间不做数值比较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4314" y="1216152"/>
            <a:ext cx="3503066" cy="566928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4314" y="1216152"/>
            <a:ext cx="350306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 · 建议卡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4314" y="1783080"/>
            <a:ext cx="3503066" cy="36576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3770" y="1993392"/>
            <a:ext cx="3064154" cy="3291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每位患者一张卡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必定带「依据」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必定带「给患者的解释口径」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例：考虑到年龄与行动情况，已为您做优先安排，当前前面还有 1 位。实际叫号以现场为准。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1700" y="1216152"/>
            <a:ext cx="3503066" cy="566928"/>
          </a:xfrm>
          <a:prstGeom prst="rect">
            <a:avLst/>
          </a:prstGeom>
          <a:solidFill>
            <a:srgbClr val="5A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1700" y="1216152"/>
            <a:ext cx="350306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右侧 · 边界面板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1700" y="1783080"/>
            <a:ext cx="3503066" cy="36576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1156" y="1993392"/>
            <a:ext cx="3064154" cy="3291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数据截止时间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人机协作边界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转人工触发条件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指标口径差值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顶部永远显示数据截止时间 —— 让护士回答患者前先确认数据新鲜度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349240"/>
            <a:ext cx="1105783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486400"/>
            <a:ext cx="10509199" cy="5943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关键取舍：所有「急诊 / 待复核」的卡片默认状态是「待人工确认」，必须有人点确认才流转（事实 f44：须标注触发原因、接手人和确认时间，不能只给一句模糊提醒）。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红线 · 明确不做什么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06 方案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70432"/>
          <a:ext cx="11057837" cy="2724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19454"/>
                <a:gridCol w="5931022"/>
                <a:gridCol w="1407361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明确不做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自动分诊 / 诊断 / 医嘱 / 处方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范围限于「时间解释与队列信息辅助」，专业判断由医护确认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写回 HIS / 预约平台 / 叫号系统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接口权限为只读；任何写回都不在范围内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f32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实时秒级推送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试点阶段每天两次授权更新，超时须标注「暂未更新」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多院区 / 住院 / 医保结算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超出首期试点范围（f05 明确两院区门诊先行）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f05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用节省工时直接推算 ROI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收益须扣除维护与人工复核成本；本方案必然增加复核工时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526280"/>
            <a:ext cx="11057839" cy="12344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681728"/>
            <a:ext cx="10509199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贡献指南里的两条硬性约束（代码评审一票否决）：
  R1  任何情况下不得写回业务系统
  R2  急症一律转人工，不得给出任何时间承诺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行业：盘子、政策与我们切在哪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07 商业化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70432"/>
          <a:ext cx="11057835" cy="1115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6354"/>
                <a:gridCol w="1370806"/>
                <a:gridCol w="1370806"/>
                <a:gridCol w="1370806"/>
                <a:gridCol w="1370806"/>
                <a:gridCol w="1370806"/>
                <a:gridCol w="2467451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2020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2025E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规模（亿元）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**59.5**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同比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+61.5%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+64.3%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+62.3%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+62.9%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+63.0%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04495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六年扩容逾十倍，2020–2025 复合增速约 62.8%；2026–2031 回落到约 21.5%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408172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增速回落是基数抬升的自然结果，不是需求萎缩 —— 但甲方会更抠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734816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采购逻辑已从「连通」转向「分析」与「运营效率」，我们卖的正是运营效率薄层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098036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政策抓手：智慧服务分级评估（可立项）、门诊质量管理 0.2% 导医配备（可测算）、DRG/DIP（成本核算压到门诊）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394960"/>
            <a:ext cx="11057839" cy="7772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541264"/>
            <a:ext cx="10509199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>
                <a:solidFill>
                  <a:srgbClr val="1B5E8C"/>
                </a:solidFill>
                <a:latin typeface="Microsoft YaHei"/>
                <a:ea typeface="Microsoft YaHei"/>
                <a:cs typeface="Microsoft YaHei"/>
              </a:rPr>
              <a:t>关键数字：三级医院核心门诊模块部署率已超八成，但真正把数据用起来的不到两成。
存量不是没有系统，是系统没被用起来 —— 我们要做的是激活，不是替换。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报价、里程碑与验收口径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07 商业化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70432"/>
          <a:ext cx="11057838" cy="1444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15994"/>
                <a:gridCol w="4637158"/>
                <a:gridCol w="3210340"/>
                <a:gridCol w="1694346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金额（元）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**A 试点**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 + 规则 + 看板 + 培训 + 验收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**160,000**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推广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扩展至全门诊科室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每科室 20,000–40,000 / 年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达标次年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规模化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按年门诊量阶梯计费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面议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044952"/>
          <a:ext cx="11057837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0937"/>
                <a:gridCol w="6509856"/>
                <a:gridCol w="3567044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周次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参与方</a:t>
                      </a:r>
                    </a:p>
                  </a:txBody>
                  <a:tcPr marL="73152" marR="73152" marT="18288" marB="18288" anchor="ctr">
                    <a:solidFill>
                      <a:srgbClr val="1B5E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基线测量完成（节点耗时报告、三套口径对照表）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排班管理员、系统工程师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W2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只读对接 + 脏数据清单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系统工程师、质控专员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并行运行启动（看板上线、首周建议清单、培训）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导诊护士、排班管理员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W4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稳定运行与验收（指标对比、审计样本、验收报告）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全体 + 运营主任签核</a:t>
                      </a:r>
                    </a:p>
                  </a:txBody>
                  <a:tcPr marL="73152" marR="73152" marT="18288" marB="18288" anchor="ctr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806440"/>
            <a:ext cx="11057839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付款 40 / 30 / 20 / 10；不含：写回 · 诊断 · 加号审批 · 硬件 · 机房改造 · 等保评测。口径一旦在验收前改写，数据就失去意义 —— 这一条请在合同里写死。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778240" cy="6583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已知局限 · 诚实清单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4592"/>
            <a:ext cx="2560320" cy="6035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B9D8EE"/>
                </a:solidFill>
                <a:latin typeface="Microsoft YaHei"/>
                <a:ea typeface="Microsoft YaHei"/>
                <a:cs typeface="Microsoft YaHei"/>
              </a:rPr>
              <a:t>08 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data/appointments.csv 是合成数据，指标绝对值不具参考意义；只有相对差值代表规则的作用方向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4635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DOCTOR_OVERRUN 目前是静态参数注入，未实现真正的医生进度预测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227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队列模型是单医生单队列串行，未建模检查返回后再候诊的二次排队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98192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看板是静态 HTML，没有实现「护士点击确认」的写回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74111"/>
            <a:ext cx="10746943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– 这符合只读约束，但也意味着复核动作需在纸质或原系统完成 —— 是真实的使用成本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13455"/>
            <a:ext cx="1105783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223648"/>
                </a:solidFill>
                <a:latin typeface="Microsoft YaHei"/>
                <a:ea typeface="Microsoft YaHei"/>
                <a:cs typeface="Microsoft YaHei"/>
              </a:rPr>
              <a:t>▪ 规则权重由业务判断设定，尚未经过真实数据标定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983480"/>
            <a:ext cx="11057839" cy="10972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138928"/>
            <a:ext cx="10509199" cy="868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1">
                <a:solidFill>
                  <a:srgbClr val="B52C22"/>
                </a:solidFill>
                <a:latin typeface="Microsoft YaHei"/>
                <a:ea typeface="Microsoft YaHei"/>
                <a:cs typeface="Microsoft YaHei"/>
              </a:rPr>
              <a:t>第 1 条和第 5 条最重要：不要拿着「中位下降 X%」去汇报。
它证明的是「这套规则在当前假设下会这样排序」，不是「上线就能降 X%」。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8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clinic-triage-copilot · 门诊预约与分诊协作助手（MVP）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6473952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424160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三句话收尾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743200" cy="27432"/>
          </a:xfrm>
          <a:prstGeom prst="rect">
            <a:avLst/>
          </a:prstGeom>
          <a:solidFill>
            <a:srgbClr val="2E8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97480"/>
            <a:ext cx="10332720" cy="749808"/>
          </a:xfrm>
          <a:prstGeom prst="rect">
            <a:avLst/>
          </a:prstGeom>
          <a:solidFill>
            <a:srgbClr val="1A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843784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000" b="1">
                <a:solidFill>
                  <a:srgbClr val="7FB6D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880360"/>
            <a:ext cx="89611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我们只解决三件事 —— 谁先看、为什么、等多久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11880"/>
            <a:ext cx="10332720" cy="749808"/>
          </a:xfrm>
          <a:prstGeom prst="rect">
            <a:avLst/>
          </a:prstGeom>
          <a:solidFill>
            <a:srgbClr val="1A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758184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000" b="1">
                <a:solidFill>
                  <a:srgbClr val="7FB6D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794760"/>
            <a:ext cx="89611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系统只给建议，决定永远由人来做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26280"/>
            <a:ext cx="10332720" cy="749808"/>
          </a:xfrm>
          <a:prstGeom prst="rect">
            <a:avLst/>
          </a:prstGeom>
          <a:solidFill>
            <a:srgbClr val="1A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672584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000" b="1">
                <a:solidFill>
                  <a:srgbClr val="7FB6D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709160"/>
            <a:ext cx="89611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先建基线再谈优化；口径写死再谈收益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4241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8AA8BE"/>
                </a:solidFill>
                <a:latin typeface="Microsoft YaHei"/>
                <a:ea typeface="Microsoft YaHei"/>
                <a:cs typeface="Microsoft YaHei"/>
              </a:rPr>
              <a:t>github.com/kekekekeke171717/- · Apache-2.0 · 合成数据，不含任何真实患者信息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